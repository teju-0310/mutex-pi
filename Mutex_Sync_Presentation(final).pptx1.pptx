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85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2E9CA6"/>
          </a:solidFill>
          <a:ln/>
        </p:spPr>
      </p:sp>
      <p:pic>
        <p:nvPicPr>
          <p:cNvPr id="6" name="Image 0" descr="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of Multiple Sensors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Mutex Locks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2E9C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89204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26306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53218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Tejasri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CH.SC.U4CYS25034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6160" y="53218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Samhitha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CH.SC.U4CYS25020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489204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26306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46520" y="5349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649"/>
            <a:ext cx="12192000" cy="67973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sensor access needs to be controlled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214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4414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3200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35204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508760" y="4279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45994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508760" y="53583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508760" y="56784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14303E-A4C2-85C1-4F82-DEA07E827C42}"/>
              </a:ext>
            </a:extLst>
          </p:cNvPr>
          <p:cNvSpPr txBox="1"/>
          <p:nvPr/>
        </p:nvSpPr>
        <p:spPr>
          <a:xfrm>
            <a:off x="640080" y="2130739"/>
            <a:ext cx="109858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sensors (temperature, humidity, motion, pressure, etc.) operate simultaneously in embedded and IoT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sensors often access a shared resource such as memory, a data buffer, or a communication channel.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Simultaneous access by multiple sensors can cause race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Race conditions may lead to data corruption, inconsistent sensor readings, and system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synchronization can reduce the reliability and accuracy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mechanism is needed to ensure that only one sensor accesses the shared resource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Mutex (Mutual Exclusion) locks provide synchronized access by allowing only one thread or process into the critical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mutex locks prevents resource conflicts, maintains data integrity, and improves overall system performance and reliability.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7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are modeled as independent threads. A mutex lock guarantees that only one thread can write to a shared resource at a time, eliminating race conditions entirely.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594360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594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13248" y="566928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multiple sensors as separate threads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161288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133856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generates data independently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728216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1700784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mutex lock is acquired before accessing the shared resource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295144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13248" y="2267712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sensor writes data at a 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862072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2834640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are prevented and correct output is ensured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 EXAMPLES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596128" y="41605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0" descr="icon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580" y="4300972"/>
            <a:ext cx="304312" cy="3043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37760" y="4892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Screen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132320" y="3977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/>
        </p:spPr>
      </p:sp>
      <p:sp>
        <p:nvSpPr>
          <p:cNvPr id="29" name="Shape 26"/>
          <p:cNvSpPr/>
          <p:nvPr/>
        </p:nvSpPr>
        <p:spPr>
          <a:xfrm>
            <a:off x="7882128" y="41605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1" descr="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580" y="4300972"/>
            <a:ext cx="304312" cy="30431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23760" y="4892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9418320" y="3977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/>
        </p:spPr>
      </p:sp>
      <p:sp>
        <p:nvSpPr>
          <p:cNvPr id="33" name="Shape 29"/>
          <p:cNvSpPr/>
          <p:nvPr/>
        </p:nvSpPr>
        <p:spPr>
          <a:xfrm>
            <a:off x="10168128" y="41605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2" descr="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580" y="4300972"/>
            <a:ext cx="304312" cy="30431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509760" y="48920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the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3288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sensor threads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84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53288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generates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93024" y="178308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1984248"/>
            <a:ext cx="457200" cy="457200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53288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locks the mutex before writing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99592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written safely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16552" y="3246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3447288"/>
            <a:ext cx="457200" cy="457200"/>
          </a:xfrm>
          <a:prstGeom prst="ellipse">
            <a:avLst/>
          </a:prstGeom>
          <a:solidFill>
            <a:srgbClr val="2E9CA6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399592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mutex is unlocked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93024" y="3246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3F5FB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4192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394192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94192" y="399592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sensor gets access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544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FLOW: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5779008"/>
            <a:ext cx="964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769364" y="5779008"/>
            <a:ext cx="25008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34840" y="5779008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52160" y="5779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45552" y="577900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C4D0C1-DC44-7502-AC6F-EB413BC5867B}"/>
              </a:ext>
            </a:extLst>
          </p:cNvPr>
          <p:cNvSpPr txBox="1"/>
          <p:nvPr/>
        </p:nvSpPr>
        <p:spPr>
          <a:xfrm>
            <a:off x="727788" y="5197151"/>
            <a:ext cx="109856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Thread A ----&gt; Lock Mutex ----&gt; Access Shared Resource ----&gt; Unlock Mutex</a:t>
            </a:r>
          </a:p>
          <a:p>
            <a:endParaRPr lang="en-US" sz="1600" dirty="0"/>
          </a:p>
          <a:p>
            <a:r>
              <a:rPr lang="en-US" sz="1600" dirty="0"/>
              <a:t>Thread B ----&gt; Wait -------------------------------&gt; Lock ----&gt; Access ----&gt; Unlock</a:t>
            </a:r>
          </a:p>
          <a:p>
            <a:endParaRPr lang="en-US" sz="1600" dirty="0"/>
          </a:p>
          <a:p>
            <a:r>
              <a:rPr lang="en-US" sz="1600" dirty="0"/>
              <a:t>Thread C ----&gt; Wait --------------------------------------------&gt; Lock ----&gt; Access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413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206240"/>
            <a:ext cx="5029200" cy="50292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7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0352" cy="530352"/>
          </a:xfrm>
          <a:prstGeom prst="ellipse">
            <a:avLst/>
          </a:prstGeom>
          <a:solidFill>
            <a:srgbClr val="26306B"/>
          </a:solidFill>
          <a:ln/>
        </p:spPr>
      </p:sp>
      <p:pic>
        <p:nvPicPr>
          <p:cNvPr id="7" name="Image 0" descr="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2001804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corruption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30352" cy="530352"/>
          </a:xfrm>
          <a:prstGeom prst="ellipse">
            <a:avLst/>
          </a:prstGeom>
          <a:solidFill>
            <a:srgbClr val="26306B"/>
          </a:solidFill>
          <a:ln/>
        </p:spPr>
      </p:sp>
      <p:pic>
        <p:nvPicPr>
          <p:cNvPr id="10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2897916"/>
            <a:ext cx="275783" cy="2757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277063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Maintains data integrity</a:t>
            </a:r>
          </a:p>
        </p:txBody>
      </p:sp>
      <p:sp>
        <p:nvSpPr>
          <p:cNvPr id="12" name="Shape 8"/>
          <p:cNvSpPr/>
          <p:nvPr/>
        </p:nvSpPr>
        <p:spPr>
          <a:xfrm>
            <a:off x="640080" y="3666744"/>
            <a:ext cx="530352" cy="530352"/>
          </a:xfrm>
          <a:prstGeom prst="ellipse">
            <a:avLst/>
          </a:prstGeom>
          <a:solidFill>
            <a:srgbClr val="26306B"/>
          </a:solidFill>
          <a:ln/>
        </p:spPr>
      </p:sp>
      <p:pic>
        <p:nvPicPr>
          <p:cNvPr id="13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" y="3794028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36667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Prevents race conditions during concurrent sensor access</a:t>
            </a:r>
          </a:p>
        </p:txBody>
      </p:sp>
      <p:sp>
        <p:nvSpPr>
          <p:cNvPr id="15" name="Shape 10"/>
          <p:cNvSpPr/>
          <p:nvPr/>
        </p:nvSpPr>
        <p:spPr>
          <a:xfrm>
            <a:off x="640080" y="4562856"/>
            <a:ext cx="530352" cy="530352"/>
          </a:xfrm>
          <a:prstGeom prst="ellipse">
            <a:avLst/>
          </a:prstGeom>
          <a:solidFill>
            <a:srgbClr val="26306B"/>
          </a:solidFill>
          <a:ln/>
        </p:spPr>
      </p:sp>
      <p:pic>
        <p:nvPicPr>
          <p:cNvPr id="16" name="Image 3" descr="icon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64" y="4690140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3312" y="456285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Improves system </a:t>
            </a:r>
            <a:r>
              <a:rPr lang="en-US" sz="1400" dirty="0" err="1">
                <a:solidFill>
                  <a:schemeClr val="bg2"/>
                </a:solidFill>
              </a:rPr>
              <a:t>reliabilty</a:t>
            </a:r>
            <a:r>
              <a:rPr lang="en-US" sz="1400" dirty="0">
                <a:solidFill>
                  <a:schemeClr val="bg2"/>
                </a:solidFill>
              </a:rPr>
              <a:t> and stability</a:t>
            </a:r>
          </a:p>
        </p:txBody>
      </p:sp>
      <p:sp>
        <p:nvSpPr>
          <p:cNvPr id="18" name="Shape 12"/>
          <p:cNvSpPr/>
          <p:nvPr/>
        </p:nvSpPr>
        <p:spPr>
          <a:xfrm>
            <a:off x="5577840" y="1874520"/>
            <a:ext cx="5943600" cy="3520440"/>
          </a:xfrm>
          <a:prstGeom prst="roundRect">
            <a:avLst>
              <a:gd name="adj" fmla="val 2597"/>
            </a:avLst>
          </a:prstGeom>
          <a:solidFill>
            <a:srgbClr val="26306B"/>
          </a:solidFill>
          <a:ln/>
        </p:spPr>
      </p:sp>
      <p:sp>
        <p:nvSpPr>
          <p:cNvPr id="19" name="Text 13"/>
          <p:cNvSpPr/>
          <p:nvPr/>
        </p:nvSpPr>
        <p:spPr>
          <a:xfrm>
            <a:off x="5943600" y="21488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943600" y="25603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demonstrates how mutex locks synchronize multiple sensor threads by preventing simultaneous access to shared resources, ensuring reliable and conflict-free data processing.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943600" y="4709160"/>
            <a:ext cx="1005840" cy="0"/>
          </a:xfrm>
          <a:prstGeom prst="line">
            <a:avLst/>
          </a:prstGeom>
          <a:noFill/>
          <a:ln w="25400">
            <a:solidFill>
              <a:srgbClr val="2E9CA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3600" y="4892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 •  Conflict-Free  •  Synchronized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392</Words>
  <Application>Microsoft Office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 K</cp:lastModifiedBy>
  <cp:revision>3</cp:revision>
  <dcterms:created xsi:type="dcterms:W3CDTF">2026-07-12T16:08:53Z</dcterms:created>
  <dcterms:modified xsi:type="dcterms:W3CDTF">2026-07-15T16:27:51Z</dcterms:modified>
</cp:coreProperties>
</file>